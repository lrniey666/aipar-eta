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開場：這是實驗室內部的伙食系統，不是對外點餐平台。等聽眾看完封面再進目錄。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約 12–15 分鐘。強調聽完能回答：誰用、做什麼、錢怎麼算、從哪裡操作。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用實驗室午餐的日常痛點帶入，不要談實作缺陷。聽眾若不是工程背景，停在這三句就夠。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這頁是整場的定位句，後面功能都回到這三行。可念一次 README 的副標題。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三塊對應產品範圍。下一頁起各用一張真實畫面展開。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右圖是本機網站 2026-09-18 的真實菜單頁，來源標為 vision，代表圖片辨識後經人工確認上線。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Discord 客戶端無法在簡報機截到實際伺服器畫面，故用專案字串表與網站標誌拼出對等畫面；品項來自雷荷豆腐鍋真實菜單。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結餘與債務是兩件事：結餘是吃了多少付了多少；債務是該把錢拿給哪一位。不要在這頁談空帳本。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跟著 1 到 6 走一遍。強調第 3 步的人工確認與第 6 步的結算。網站頁面列在圖下方黑條。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右圖為 2026-09-18 本機網站儀表板，已有兩間餐廳與兩場揪團。不要解讀數字為營運 KPI。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技術棧講「為什麼這樣選」：校內機器、免費 API、無公有網域。不必展開套件版本爭議。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指出 bot 與 web 都進 PostgreSQL，只有 bot 會叫 LLM。分層：shared → db → domain → llm → 入口。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這四條是產品承諾，不是檢討。若有人問「AI 會不會算錯錢」，答案是錢不經過模型。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左列是現行指令表。英文預設名：restaurant、menu、groupbuy、settle、ledger、help、website、setup。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收束到三句：確認菜單、對到品項、程式算錢。留下時間問指令或網站怎麼開。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1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ABF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ABF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51560"/>
            <a:ext cx="1554480" cy="13601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2606040"/>
            <a:ext cx="1051560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5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AIPAR ETA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83280"/>
            <a:ext cx="105156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0">
                <a:solidFill>
                  <a:srgbClr val="EABF29"/>
                </a:solidFill>
                <a:latin typeface="Microsoft JhengHei"/>
                <a:ea typeface="Microsoft JhengHei"/>
                <a:cs typeface="Microsoft JhengHei"/>
              </a:rPr>
              <a:t>實驗室伙食系統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60"/>
            <a:ext cx="96012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E9E7E2"/>
                </a:solidFill>
                <a:latin typeface="Microsoft JhengHei"/>
                <a:ea typeface="Microsoft JhengHei"/>
                <a:cs typeface="Microsoft JhengHei"/>
              </a:rPr>
              <a:t>把餐廳菜單、論壇揪團與帳本收進同一套系統。
寫入走 Discord，查閱走校內網站。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89320"/>
            <a:ext cx="7315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A3A8B0"/>
                </a:solidFill>
                <a:latin typeface="Microsoft JhengHei"/>
                <a:ea typeface="Microsoft JhengHei"/>
                <a:cs typeface="Microsoft JhengHei"/>
              </a:rPr>
              <a:t>通用介紹  ·  2026-09-18  ·  台北時間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ABF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B8860B"/>
                </a:solidFill>
                <a:latin typeface="Microsoft JhengHei"/>
                <a:ea typeface="Microsoft JhengHei"/>
                <a:cs typeface="Microsoft JhengHei"/>
              </a:rPr>
              <a:t>目錄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今天會帶到這些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65392"/>
            <a:ext cx="11155680" cy="13716"/>
          </a:xfrm>
          <a:prstGeom prst="rect">
            <a:avLst/>
          </a:prstGeom>
          <a:solidFill>
            <a:srgbClr val="E2DE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601968"/>
            <a:ext cx="4114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AIPAR ETA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601968"/>
            <a:ext cx="36576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實驗室伙食系統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601968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02  /  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280160"/>
            <a:ext cx="53035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536192"/>
            <a:ext cx="1005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EABF29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1664207"/>
            <a:ext cx="3749039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這套系統在解決什麼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280160"/>
            <a:ext cx="53035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536192"/>
            <a:ext cx="1005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EABF29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60" y="1664207"/>
            <a:ext cx="3749039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三件核心能力：菜單、揪團、帳本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697480"/>
            <a:ext cx="53035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953512"/>
            <a:ext cx="1005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EABF29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3081528"/>
            <a:ext cx="3749039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一場午餐怎麼走完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2697480"/>
            <a:ext cx="53035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953512"/>
            <a:ext cx="1005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EABF29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3081528"/>
            <a:ext cx="3749039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Discord 與校內網站怎麼分工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114800"/>
            <a:ext cx="53035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370832"/>
            <a:ext cx="1005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EABF29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83080" y="4498848"/>
            <a:ext cx="3749039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技術棧與系統架構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4114800"/>
            <a:ext cx="53035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4370832"/>
            <a:ext cx="1005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EABF29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4498848"/>
            <a:ext cx="3749039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金額、語言與使用方式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ABF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B8860B"/>
                </a:solidFill>
                <a:latin typeface="Microsoft JhengHei"/>
                <a:ea typeface="Microsoft JhengHei"/>
                <a:cs typeface="Microsoft JhengHei"/>
              </a:rPr>
              <a:t>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實驗室中午，資訊不該散落在十則訊息裡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65392"/>
            <a:ext cx="11155680" cy="13716"/>
          </a:xfrm>
          <a:prstGeom prst="rect">
            <a:avLst/>
          </a:prstGeom>
          <a:solidFill>
            <a:srgbClr val="E2DE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601968"/>
            <a:ext cx="4114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AIPAR ETA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601968"/>
            <a:ext cx="36576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實驗室伙食系統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601968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03  /  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25880"/>
            <a:ext cx="361188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325880"/>
            <a:ext cx="3611880" cy="91440"/>
          </a:xfrm>
          <a:prstGeom prst="rect">
            <a:avLst/>
          </a:prstGeom>
          <a:solidFill>
            <a:srgbClr val="EABF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1645920"/>
            <a:ext cx="31089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01  要點什麼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2468880"/>
            <a:ext cx="310896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哪一家店、菜單是哪一版、有沒有人認得照片上的字。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325880"/>
            <a:ext cx="361188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325880"/>
            <a:ext cx="3611880" cy="91440"/>
          </a:xfrm>
          <a:prstGeom prst="rect">
            <a:avLst/>
          </a:prstGeom>
          <a:solidFill>
            <a:srgbClr val="EABF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53712" y="1645920"/>
            <a:ext cx="31089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02  誰點了什麼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3712" y="2468880"/>
            <a:ext cx="310896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論壇裡加點、改點、截止之後，清單要立刻是同一份。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1325880"/>
            <a:ext cx="361188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2440" y="1325880"/>
            <a:ext cx="3611880" cy="91440"/>
          </a:xfrm>
          <a:prstGeom prst="rect">
            <a:avLst/>
          </a:prstGeom>
          <a:solidFill>
            <a:srgbClr val="EABF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48472" y="1645920"/>
            <a:ext cx="31089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03  最後誰該付多少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8472" y="2468880"/>
            <a:ext cx="310896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價格以庫內菜單為準，結算後知道要把錢拿給誰。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ABF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B8860B"/>
                </a:solidFill>
                <a:latin typeface="Microsoft JhengHei"/>
                <a:ea typeface="Microsoft JhengHei"/>
                <a:cs typeface="Microsoft JhengHei"/>
              </a:rPr>
              <a:t>一句話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AIPAR ETA 是實驗室內部的伙食系統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65392"/>
            <a:ext cx="11155680" cy="13716"/>
          </a:xfrm>
          <a:prstGeom prst="rect">
            <a:avLst/>
          </a:prstGeom>
          <a:solidFill>
            <a:srgbClr val="E2DE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601968"/>
            <a:ext cx="4114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AIPAR ETA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601968"/>
            <a:ext cx="36576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實驗室伙食系統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601968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04  /  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280160"/>
            <a:ext cx="1115568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554480"/>
            <a:ext cx="1060704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Discord 建檔、揪團、點餐、結算；校內網站只負責查閱。
金額由程式依庫內價格計算，模型不得自行定價。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361188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291840"/>
            <a:ext cx="31546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B8860B"/>
                </a:solidFill>
                <a:latin typeface="Microsoft JhengHei"/>
                <a:ea typeface="Microsoft JhengHei"/>
                <a:cs typeface="Microsoft JhengHei"/>
              </a:rPr>
              <a:t>給誰用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794760"/>
            <a:ext cx="315468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實驗室成員。寫入在 Discord 伺服器，查閱在校內網路。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3108960"/>
            <a:ext cx="361188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3291840"/>
            <a:ext cx="31546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B8860B"/>
                </a:solidFill>
                <a:latin typeface="Microsoft JhengHei"/>
                <a:ea typeface="Microsoft JhengHei"/>
                <a:cs typeface="Microsoft JhengHei"/>
              </a:rPr>
              <a:t>兩個入口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3794760"/>
            <a:ext cx="315468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Bot 負責操作，網站負責看板。兩邊共用同一份 PostgreSQL。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3108960"/>
            <a:ext cx="361188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3291840"/>
            <a:ext cx="31546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B8860B"/>
                </a:solidFill>
                <a:latin typeface="Microsoft JhengHei"/>
                <a:ea typeface="Microsoft JhengHei"/>
                <a:cs typeface="Microsoft JhengHei"/>
              </a:rPr>
              <a:t>模型的角色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794760"/>
            <a:ext cx="315468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幫忙讀菜單、聽懂自然語言。錢與帳一律由程式決定。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ABF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B8860B"/>
                </a:solidFill>
                <a:latin typeface="Microsoft JhengHei"/>
                <a:ea typeface="Microsoft JhengHei"/>
                <a:cs typeface="Microsoft JhengHei"/>
              </a:rPr>
              <a:t>功能總覽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三件核心能力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65392"/>
            <a:ext cx="11155680" cy="13716"/>
          </a:xfrm>
          <a:prstGeom prst="rect">
            <a:avLst/>
          </a:prstGeom>
          <a:solidFill>
            <a:srgbClr val="E2DE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601968"/>
            <a:ext cx="4114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AIPAR ETA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601968"/>
            <a:ext cx="36576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實驗室伙食系統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601968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05  /  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280160"/>
            <a:ext cx="3611880" cy="4709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280160"/>
            <a:ext cx="109728" cy="4709160"/>
          </a:xfrm>
          <a:prstGeom prst="rect">
            <a:avLst/>
          </a:prstGeom>
          <a:solidFill>
            <a:srgbClr val="EABF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554480"/>
            <a:ext cx="3017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EABF29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965960"/>
            <a:ext cx="30175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菜單建檔與查詢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697480"/>
            <a:ext cx="3017520" cy="2926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/餐廳 新增 建檔。
/菜單 上傳 丟照片，或 /菜單 輸入 貼文字。
辨識結果先當草稿，確認後才上線。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1280160"/>
            <a:ext cx="3611880" cy="4709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1280160"/>
            <a:ext cx="109728" cy="4709160"/>
          </a:xfrm>
          <a:prstGeom prst="rect">
            <a:avLst/>
          </a:prstGeom>
          <a:solidFill>
            <a:srgbClr val="259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1554480"/>
            <a:ext cx="3017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259FC8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1965960"/>
            <a:ext cx="30175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揪團點餐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697480"/>
            <a:ext cx="3017520" cy="2926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/揪團 在論壇開貼文，自動貼菜單與彙總。
按「點餐」選數量與品項，或直接打字。
截止後顯示截止時刻，不再倒數。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1280160"/>
            <a:ext cx="3611880" cy="4709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92440" y="1280160"/>
            <a:ext cx="109728" cy="4709160"/>
          </a:xfrm>
          <a:prstGeom prst="rect">
            <a:avLst/>
          </a:prstGeom>
          <a:solidFill>
            <a:srgbClr val="EABF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58200" y="1554480"/>
            <a:ext cx="3017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EABF29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1965960"/>
            <a:ext cx="30175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記帳與分攤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2697480"/>
            <a:ext cx="3017520" cy="2926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/結算 把每人小計寫進帳本。
/帳務 誰欠誰 給互抵後的欠款與最少轉帳建議。
同場同人不會重複計費。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ABF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B8860B"/>
                </a:solidFill>
                <a:latin typeface="Microsoft JhengHei"/>
                <a:ea typeface="Microsoft JhengHei"/>
                <a:cs typeface="Microsoft JhengHei"/>
              </a:rPr>
              <a:t>功能一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菜單建檔與查詢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65392"/>
            <a:ext cx="11155680" cy="13716"/>
          </a:xfrm>
          <a:prstGeom prst="rect">
            <a:avLst/>
          </a:prstGeom>
          <a:solidFill>
            <a:srgbClr val="E2DE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601968"/>
            <a:ext cx="4114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AIPAR ETA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601968"/>
            <a:ext cx="36576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實驗室伙食系統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601968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06  / 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34440"/>
            <a:ext cx="5212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•  先登記餐廳，再為它建立菜單版本。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•  照片辨識支援直書菜單；也可以人工貼文字。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•  選用 OCR 對帳，預覽時標出需要人工核對的行。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•  沒有人按下「確認寫入」，菜單不會上線。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•  之後可用指令或 @ bot 問「這家有什麼」。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06440" y="1170432"/>
            <a:ext cx="5897880" cy="5074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web-men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280160"/>
            <a:ext cx="3694176" cy="46177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943600" y="5989320"/>
            <a:ext cx="5623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校內網站實機截圖　·　雷荷豆腐鍋專賣店菜單 v1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ABF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B8860B"/>
                </a:solidFill>
                <a:latin typeface="Microsoft JhengHei"/>
                <a:ea typeface="Microsoft JhengHei"/>
                <a:cs typeface="Microsoft JhengHei"/>
              </a:rPr>
              <a:t>功能二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揪團點餐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65392"/>
            <a:ext cx="11155680" cy="13716"/>
          </a:xfrm>
          <a:prstGeom prst="rect">
            <a:avLst/>
          </a:prstGeom>
          <a:solidFill>
            <a:srgbClr val="E2DE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601968"/>
            <a:ext cx="4114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AIPAR ETA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601968"/>
            <a:ext cx="36576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實驗室伙食系統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601968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07  / 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34440"/>
            <a:ext cx="5212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•  管理員先指定論壇頻道，開團可 ping 身分組。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•  Bot 開論壇貼文，貼上菜單與持續更新的彙總。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•  點餐面板可選 1–10 份，品項可複選。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•  也可以打「我要一個豆腐鍋跟一份地瓜薯條」。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•  要改就說「取消地瓜薯條」，或按「清除我的」。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•  價格永遠取自已上線的菜單，不接受口頭報價。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06440" y="1170432"/>
            <a:ext cx="5897880" cy="5074920"/>
          </a:xfrm>
          <a:prstGeom prst="roundRect">
            <a:avLst>
              <a:gd name="adj" fmla="val 8000"/>
            </a:avLst>
          </a:prstGeom>
          <a:solidFill>
            <a:srgbClr val="131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iscord-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261872"/>
            <a:ext cx="5715000" cy="366117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97880" y="5989320"/>
            <a:ext cx="5669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Discord 介面示意　·　字串、按鈕與標誌取自本專案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ABF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B8860B"/>
                </a:solidFill>
                <a:latin typeface="Microsoft JhengHei"/>
                <a:ea typeface="Microsoft JhengHei"/>
                <a:cs typeface="Microsoft JhengHei"/>
              </a:rPr>
              <a:t>功能三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記帳與分攤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65392"/>
            <a:ext cx="11155680" cy="13716"/>
          </a:xfrm>
          <a:prstGeom prst="rect">
            <a:avLst/>
          </a:prstGeom>
          <a:solidFill>
            <a:srgbClr val="E2DE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601968"/>
            <a:ext cx="4114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AIPAR ETA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601968"/>
            <a:ext cx="36576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實驗室伙食系統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601968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08  /  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234440"/>
            <a:ext cx="1115568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417320"/>
            <a:ext cx="1060704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結算時寫下每人應付，並記住這場要把錢拿給誰。
餘額由帳本紀錄加總得出，不另存一個會飄的數字。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834640"/>
            <a:ext cx="274320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017520"/>
            <a:ext cx="23774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B8860B"/>
                </a:solidFill>
                <a:latin typeface="Microsoft JhengHei"/>
                <a:ea typeface="Microsoft JhengHei"/>
                <a:cs typeface="Microsoft JhengHei"/>
              </a:rPr>
              <a:t>/結算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749039"/>
            <a:ext cx="237744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每人小計寫成帳本紀錄。同場同一個人只計一次。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3280" y="2834640"/>
            <a:ext cx="274320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3017520"/>
            <a:ext cx="23774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B8860B"/>
                </a:solidFill>
                <a:latin typeface="Microsoft JhengHei"/>
                <a:ea typeface="Microsoft JhengHei"/>
                <a:cs typeface="Microsoft JhengHei"/>
              </a:rPr>
              <a:t>/帳務 我的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3749039"/>
            <a:ext cx="237744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看自己的結餘，以及要拿給誰、誰要還你。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2834640"/>
            <a:ext cx="274320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017520"/>
            <a:ext cx="23774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B8860B"/>
                </a:solidFill>
                <a:latin typeface="Microsoft JhengHei"/>
                <a:ea typeface="Microsoft JhengHei"/>
                <a:cs typeface="Microsoft JhengHei"/>
              </a:rPr>
              <a:t>/帳務 誰欠誰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749039"/>
            <a:ext cx="237744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全體互抵後的欠款，加上最少轉帳建議。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2834640"/>
            <a:ext cx="274320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0" y="3017520"/>
            <a:ext cx="23774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B8860B"/>
                </a:solidFill>
                <a:latin typeface="Microsoft JhengHei"/>
                <a:ea typeface="Microsoft JhengHei"/>
                <a:cs typeface="Microsoft JhengHei"/>
              </a:rPr>
              <a:t>/帳務 付款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3749039"/>
            <a:ext cx="237744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記下實際付款；指定「付給」誰才抵銷債務。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ABF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B8860B"/>
                </a:solidFill>
                <a:latin typeface="Microsoft JhengHei"/>
                <a:ea typeface="Microsoft JhengHei"/>
                <a:cs typeface="Microsoft JhengHei"/>
              </a:rPr>
              <a:t>使用路徑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一場午餐，六個步驟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65392"/>
            <a:ext cx="11155680" cy="13716"/>
          </a:xfrm>
          <a:prstGeom prst="rect">
            <a:avLst/>
          </a:prstGeom>
          <a:solidFill>
            <a:srgbClr val="E2DE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601968"/>
            <a:ext cx="4114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AIPAR ETA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601968"/>
            <a:ext cx="36576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實驗室伙食系統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601968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09  /  15</a:t>
            </a:r>
          </a:p>
        </p:txBody>
      </p:sp>
      <p:pic>
        <p:nvPicPr>
          <p:cNvPr id="10" name="Picture 9" descr="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43000"/>
            <a:ext cx="11430000" cy="302915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ABF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B8860B"/>
                </a:solidFill>
                <a:latin typeface="Microsoft JhengHei"/>
                <a:ea typeface="Microsoft JhengHei"/>
                <a:cs typeface="Microsoft JhengHei"/>
              </a:rPr>
              <a:t>兩個入口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Discord 負責寫入，網站負責查閱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65392"/>
            <a:ext cx="11155680" cy="13716"/>
          </a:xfrm>
          <a:prstGeom prst="rect">
            <a:avLst/>
          </a:prstGeom>
          <a:solidFill>
            <a:srgbClr val="E2DE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601968"/>
            <a:ext cx="4114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AIPAR ETA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601968"/>
            <a:ext cx="36576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實驗室伙食系統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601968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10  / 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3444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</a:pPr>
            <a:r>
              <a:rPr sz="1500" b="0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•  沒有公有網域：網站走校內 IP 與埠。</a:t>
            </a:r>
          </a:p>
          <a:p>
            <a:pPr algn="l">
              <a:spcAft>
                <a:spcPts val="1100"/>
              </a:spcAft>
            </a:pPr>
            <a:r>
              <a:rPr sz="1500" b="0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•  頁面是伺服器端渲染，樣式內嵌，不依賴外部字型或 CDN。</a:t>
            </a:r>
          </a:p>
          <a:p>
            <a:pPr algn="l">
              <a:spcAft>
                <a:spcPts val="1100"/>
              </a:spcAft>
            </a:pPr>
            <a:r>
              <a:rPr sz="1500" b="0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•  儀表板、餐廳菜單、揪團紀錄、帳務、系統狀態。</a:t>
            </a:r>
          </a:p>
          <a:p>
            <a:pPr algn="l">
              <a:spcAft>
                <a:spcPts val="1100"/>
              </a:spcAft>
            </a:pPr>
            <a:r>
              <a:rPr sz="1500" b="0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•  深淺色可切換；系統要求減少動態時，動畫全部關閉。</a:t>
            </a:r>
          </a:p>
          <a:p>
            <a:pPr algn="l">
              <a:spcAft>
                <a:spcPts val="1100"/>
              </a:spcAft>
            </a:pPr>
            <a:r>
              <a:rPr sz="1500" b="0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•  寫入只留 Discord 一條授權路徑，網站維持唯讀。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720" y="1170432"/>
            <a:ext cx="5943600" cy="5074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web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280160"/>
            <a:ext cx="5669280" cy="35433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97880" y="5989320"/>
            <a:ext cx="5669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校內網站實機截圖　·　儀表板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ABF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B8860B"/>
                </a:solidFill>
                <a:latin typeface="Microsoft JhengHei"/>
                <a:ea typeface="Microsoft JhengHei"/>
                <a:cs typeface="Microsoft JhengHei"/>
              </a:rPr>
              <a:t>技術棧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實驗室機器跑得動的組合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65392"/>
            <a:ext cx="11155680" cy="13716"/>
          </a:xfrm>
          <a:prstGeom prst="rect">
            <a:avLst/>
          </a:prstGeom>
          <a:solidFill>
            <a:srgbClr val="E2DE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601968"/>
            <a:ext cx="4114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AIPAR ETA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601968"/>
            <a:ext cx="36576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實驗室伙食系統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601968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11  /  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234440"/>
            <a:ext cx="55321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399032"/>
            <a:ext cx="14630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B8860B"/>
                </a:solidFill>
                <a:latin typeface="Microsoft JhengHei"/>
                <a:ea typeface="Microsoft JhengHei"/>
                <a:cs typeface="Microsoft JhengHei"/>
              </a:rPr>
              <a:t>執行期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1527048"/>
            <a:ext cx="36118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Node.js 24，TypeScript 直接執行，沒有前端建置步驟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234440"/>
            <a:ext cx="55321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399032"/>
            <a:ext cx="14630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B8860B"/>
                </a:solidFill>
                <a:latin typeface="Microsoft JhengHei"/>
                <a:ea typeface="Microsoft JhengHei"/>
                <a:cs typeface="Microsoft JhengHei"/>
              </a:rPr>
              <a:t>資料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1527048"/>
            <a:ext cx="36118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PostgreSQL 18.6；金額以整數計算，顯示為新台幣元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423160"/>
            <a:ext cx="55321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587752"/>
            <a:ext cx="14630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B8860B"/>
                </a:solidFill>
                <a:latin typeface="Microsoft JhengHei"/>
                <a:ea typeface="Microsoft JhengHei"/>
                <a:cs typeface="Microsoft JhengHei"/>
              </a:rPr>
              <a:t>編排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2715768"/>
            <a:ext cx="36118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Docker Compose：postgres、web、bot 三個容器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423160"/>
            <a:ext cx="55321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2587752"/>
            <a:ext cx="14630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B8860B"/>
                </a:solidFill>
                <a:latin typeface="Microsoft JhengHei"/>
                <a:ea typeface="Microsoft JhengHei"/>
                <a:cs typeface="Microsoft JhengHei"/>
              </a:rPr>
              <a:t>Discord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9560" y="2715768"/>
            <a:ext cx="36118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discord.js 14；斜線指令、Embed、按鈕與下拉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611880"/>
            <a:ext cx="55321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776472"/>
            <a:ext cx="14630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B8860B"/>
                </a:solidFill>
                <a:latin typeface="Microsoft JhengHei"/>
                <a:ea typeface="Microsoft JhengHei"/>
                <a:cs typeface="Microsoft JhengHei"/>
              </a:rPr>
              <a:t>網站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4560" y="3904488"/>
            <a:ext cx="36118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Node 內建 HTTP、伺服器端渲染；刻意不引網頁框架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3611880"/>
            <a:ext cx="55321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3776472"/>
            <a:ext cx="14630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B8860B"/>
                </a:solidFill>
                <a:latin typeface="Microsoft JhengHei"/>
                <a:ea typeface="Microsoft JhengHei"/>
                <a:cs typeface="Microsoft JhengHei"/>
              </a:rPr>
              <a:t>模型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09560" y="3904488"/>
            <a:ext cx="36118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自寫免費 LLM 閘道，OpenAI 相容格式，不引 LLM SDK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4800600"/>
            <a:ext cx="55321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965192"/>
            <a:ext cx="14630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B8860B"/>
                </a:solidFill>
                <a:latin typeface="Microsoft JhengHei"/>
                <a:ea typeface="Microsoft JhengHei"/>
                <a:cs typeface="Microsoft JhengHei"/>
              </a:rPr>
              <a:t>辨識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94560" y="5093208"/>
            <a:ext cx="36118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視覺模型讀菜單圖；可選 PP-OCRv6 做版面對帳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4800600"/>
            <a:ext cx="55321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4965192"/>
            <a:ext cx="14630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B8860B"/>
                </a:solidFill>
                <a:latin typeface="Microsoft JhengHei"/>
                <a:ea typeface="Microsoft JhengHei"/>
                <a:cs typeface="Microsoft JhengHei"/>
              </a:rPr>
              <a:t>時區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09560" y="5093208"/>
            <a:ext cx="36118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全程台北時間，日期 YYYY-MM-DD、時間 HH:MM:SS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ABF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B8860B"/>
                </a:solidFill>
                <a:latin typeface="Microsoft JhengHei"/>
                <a:ea typeface="Microsoft JhengHei"/>
                <a:cs typeface="Microsoft JhengHei"/>
              </a:rPr>
              <a:t>架構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兩個入口，一份資料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65392"/>
            <a:ext cx="11155680" cy="13716"/>
          </a:xfrm>
          <a:prstGeom prst="rect">
            <a:avLst/>
          </a:prstGeom>
          <a:solidFill>
            <a:srgbClr val="E2DE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601968"/>
            <a:ext cx="4114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AIPAR ETA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601968"/>
            <a:ext cx="36576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實驗室伙食系統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601968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12  /  15</a:t>
            </a:r>
          </a:p>
        </p:txBody>
      </p:sp>
      <p:pic>
        <p:nvPicPr>
          <p:cNvPr id="10" name="Picture 9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0"/>
            <a:ext cx="11521440" cy="402232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ABF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B8860B"/>
                </a:solidFill>
                <a:latin typeface="Microsoft JhengHei"/>
                <a:ea typeface="Microsoft JhengHei"/>
                <a:cs typeface="Microsoft JhengHei"/>
              </a:rPr>
              <a:t>設計原則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讓帳算得準、讓人看得懂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65392"/>
            <a:ext cx="11155680" cy="13716"/>
          </a:xfrm>
          <a:prstGeom prst="rect">
            <a:avLst/>
          </a:prstGeom>
          <a:solidFill>
            <a:srgbClr val="E2DE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601968"/>
            <a:ext cx="4114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AIPAR ETA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601968"/>
            <a:ext cx="36576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實驗室伙食系統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601968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13  /  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280160"/>
            <a:ext cx="55321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280160"/>
            <a:ext cx="109728" cy="2148840"/>
          </a:xfrm>
          <a:prstGeom prst="rect">
            <a:avLst/>
          </a:prstGeom>
          <a:solidFill>
            <a:srgbClr val="EABF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600200"/>
            <a:ext cx="48920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價格只來自菜單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194560"/>
            <a:ext cx="489204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模型負責指到哪一項、要幾份。應付金額由程式查菜單計算。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280160"/>
            <a:ext cx="55321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280160"/>
            <a:ext cx="109728" cy="2148840"/>
          </a:xfrm>
          <a:prstGeom prst="rect">
            <a:avLst/>
          </a:prstGeom>
          <a:solidFill>
            <a:srgbClr val="259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1600200"/>
            <a:ext cx="48920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草稿必須有人確認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194560"/>
            <a:ext cx="489204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圖片辨識與文字解析都先產生草稿，「確認寫入」才上線。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611879"/>
            <a:ext cx="55321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611879"/>
            <a:ext cx="109728" cy="2148840"/>
          </a:xfrm>
          <a:prstGeom prst="rect">
            <a:avLst/>
          </a:prstGeom>
          <a:solidFill>
            <a:srgbClr val="EABF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931920"/>
            <a:ext cx="48920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規則優先、模型墊底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526279"/>
            <a:ext cx="489204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對得到的品名就不打模型；沒有金鑰時，按鈕與下拉仍可點餐。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611879"/>
            <a:ext cx="55321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3611879"/>
            <a:ext cx="109728" cy="2148840"/>
          </a:xfrm>
          <a:prstGeom prst="rect">
            <a:avLst/>
          </a:prstGeom>
          <a:solidFill>
            <a:srgbClr val="259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3931920"/>
            <a:ext cx="48920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兩種語言一起提供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526279"/>
            <a:ext cx="489204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Discord 語言為中文時用繁體中文，其餘用英式英文。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ABF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B8860B"/>
                </a:solidFill>
                <a:latin typeface="Microsoft JhengHei"/>
                <a:ea typeface="Microsoft JhengHei"/>
                <a:cs typeface="Microsoft JhengHei"/>
              </a:rPr>
              <a:t>怎麼開始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八支斜線指令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65392"/>
            <a:ext cx="11155680" cy="13716"/>
          </a:xfrm>
          <a:prstGeom prst="rect">
            <a:avLst/>
          </a:prstGeom>
          <a:solidFill>
            <a:srgbClr val="E2DE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601968"/>
            <a:ext cx="4114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AIPAR ETA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601968"/>
            <a:ext cx="36576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實驗室伙食系統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601968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14  /  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207008"/>
            <a:ext cx="2651760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1371600"/>
            <a:ext cx="233172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B8860B"/>
                </a:solidFill>
                <a:latin typeface="Microsoft JhengHei"/>
                <a:ea typeface="Microsoft JhengHei"/>
                <a:cs typeface="Microsoft JhengHei"/>
              </a:rPr>
              <a:t>/餐廳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1737360"/>
            <a:ext cx="233172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建檔與查詢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39" y="1207008"/>
            <a:ext cx="2651760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56432" y="1371600"/>
            <a:ext cx="233172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B8860B"/>
                </a:solidFill>
                <a:latin typeface="Microsoft JhengHei"/>
                <a:ea typeface="Microsoft JhengHei"/>
                <a:cs typeface="Microsoft JhengHei"/>
              </a:rPr>
              <a:t>/菜單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6432" y="1737360"/>
            <a:ext cx="233172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上傳、輸入、查看版本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377440"/>
            <a:ext cx="2651760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2542032"/>
            <a:ext cx="233172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B8860B"/>
                </a:solidFill>
                <a:latin typeface="Microsoft JhengHei"/>
                <a:ea typeface="Microsoft JhengHei"/>
                <a:cs typeface="Microsoft JhengHei"/>
              </a:rPr>
              <a:t>/揪團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" y="2907792"/>
            <a:ext cx="233172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開論壇貼文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91839" y="2377440"/>
            <a:ext cx="2651760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542032"/>
            <a:ext cx="233172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B8860B"/>
                </a:solidFill>
                <a:latin typeface="Microsoft JhengHei"/>
                <a:ea typeface="Microsoft JhengHei"/>
                <a:cs typeface="Microsoft JhengHei"/>
              </a:rPr>
              <a:t>/結算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56432" y="2907792"/>
            <a:ext cx="233172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寫入帳本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547872"/>
            <a:ext cx="2651760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" y="3712463"/>
            <a:ext cx="233172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B8860B"/>
                </a:solidFill>
                <a:latin typeface="Microsoft JhengHei"/>
                <a:ea typeface="Microsoft JhengHei"/>
                <a:cs typeface="Microsoft JhengHei"/>
              </a:rPr>
              <a:t>/帳務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" y="4078224"/>
            <a:ext cx="233172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我的／總覽／誰欠誰／付款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91839" y="3547872"/>
            <a:ext cx="2651760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56432" y="3712463"/>
            <a:ext cx="233172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B8860B"/>
                </a:solidFill>
                <a:latin typeface="Microsoft JhengHei"/>
                <a:ea typeface="Microsoft JhengHei"/>
                <a:cs typeface="Microsoft JhengHei"/>
              </a:rPr>
              <a:t>/說明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56432" y="4078224"/>
            <a:ext cx="233172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五段使用說明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4718304"/>
            <a:ext cx="2651760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" y="4882896"/>
            <a:ext cx="233172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B8860B"/>
                </a:solidFill>
                <a:latin typeface="Microsoft JhengHei"/>
                <a:ea typeface="Microsoft JhengHei"/>
                <a:cs typeface="Microsoft JhengHei"/>
              </a:rPr>
              <a:t>/網站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" y="5248656"/>
            <a:ext cx="233172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開啟校內網站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91839" y="4718304"/>
            <a:ext cx="2651760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56432" y="4882896"/>
            <a:ext cx="233172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B8860B"/>
                </a:solidFill>
                <a:latin typeface="Microsoft JhengHei"/>
                <a:ea typeface="Microsoft JhengHei"/>
                <a:cs typeface="Microsoft JhengHei"/>
              </a:rPr>
              <a:t>/設定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56432" y="5248656"/>
            <a:ext cx="233172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論壇頻道與通知身分組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26480" y="1207008"/>
            <a:ext cx="5532120" cy="4754880"/>
          </a:xfrm>
          <a:prstGeom prst="roundRect">
            <a:avLst>
              <a:gd name="adj" fmla="val 8000"/>
            </a:avLst>
          </a:prstGeom>
          <a:solidFill>
            <a:srgbClr val="131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discord-hel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298448"/>
            <a:ext cx="5349240" cy="376118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217920" y="5989320"/>
            <a:ext cx="53949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Discord 介面示意　·　/說明 與「開啟網站」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1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ABF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1358537" cy="1188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283464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同一份菜單，同一本帳。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11880"/>
            <a:ext cx="100584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E9E7E2"/>
                </a:solidFill>
                <a:latin typeface="Microsoft JhengHei"/>
                <a:ea typeface="Microsoft JhengHei"/>
                <a:cs typeface="Microsoft JhengHei"/>
              </a:rPr>
              <a:t>菜單先確認再上線，點餐對得到品項，結算由程式算錢。
Discord 操作，校內網站查閱。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029200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EABF29"/>
                </a:solidFill>
                <a:latin typeface="Microsoft JhengHei"/>
                <a:ea typeface="Microsoft JhengHei"/>
                <a:cs typeface="Microsoft JhengHei"/>
              </a:rPr>
              <a:t>問題歡迎現在提。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989320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A3A8B0"/>
                </a:solidFill>
                <a:latin typeface="Microsoft JhengHei"/>
                <a:ea typeface="Microsoft JhengHei"/>
                <a:cs typeface="Microsoft JhengHei"/>
              </a:rPr>
              <a:t>AIPAR ETA  ·  實驗室伙食系統  ·  2026-09-18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