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3339"/>
    <a:srgbClr val="1E1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17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446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開場：這是實驗室內部的伙食系統，不是對外點餐平台。等聽眾看完封面再進目錄。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約 12–15 分鐘。強調聽完能回答：誰用、做什麼、錢怎麼算、從哪裡操作。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用實驗室午餐的日常痛點帶入，不要談實作缺陷。聽眾若不是工程背景，停在這三句就夠。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這頁是整場的定位句，後面功能都回到這三行。可念一次 README 的副標題。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三塊對應產品範圍。下一頁起各用一張真實畫面展開。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右圖是本機網站 2026-09-18 的真實菜單頁，來源標為 vision，代表圖片辨識後經人工確認上線。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Discord 客戶端無法在簡報機截到實際伺服器畫面，故用專案字串表與網站標誌拼出對等畫面；品項來自雷荷豆腐鍋真實菜單。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結餘與債務是兩件事：結餘是吃了多少付了多少；債務是該把錢拿給哪一位。不要在這頁談空帳本。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跟著 1 到 6 走一遍。強調第 3 步的人工確認與第 6 步的結算。網站頁面列在圖下方黑條。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右圖為 2026-09-18 本機網站儀表板，已有兩間餐廳與兩場揪團。不要解讀數字為營運 KPI。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技術棧講「為什麼這樣選」：校內機器、免費 API、無公有網域。不必展開套件版本爭議。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指出 bot 與 web 都進 PostgreSQL，只有 bot 會叫 LLM。分層：shared → db → domain → llm → 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這四條是產品承諾，不是檢討。若有人問「AI 會不會算錯錢」，答案是錢不經過模型。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左列是現行指令表。英文預設名：restaurant、menu、groupbuy、settle、ledger、help、website、setup。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1554480" cy="13601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606040"/>
            <a:ext cx="105156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0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9601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dirty="0" err="1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把餐廳菜單、論壇揪團與帳本收進同一套系統</a:t>
            </a:r>
            <a:r>
              <a:rPr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。
</a:t>
            </a:r>
            <a:r>
              <a:rPr sz="1800" b="0" dirty="0" err="1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寫入走</a:t>
            </a:r>
            <a:r>
              <a:rPr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800" b="0" dirty="0" err="1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Discord，查閱走</a:t>
            </a:r>
            <a:r>
              <a:rPr lang="zh-TW" altLang="en-US"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800" b="0" dirty="0">
                <a:solidFill>
                  <a:srgbClr val="E9E7E2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A3A8B0"/>
                </a:solidFill>
                <a:latin typeface="Microsoft JhengHei"/>
                <a:ea typeface="Microsoft JhengHei"/>
                <a:cs typeface="Microsoft JhengHei"/>
              </a:rPr>
              <a:t>通用介紹  ·  2026-09-18  ·  台北時間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目錄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今天會帶到這些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02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53619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664207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這套系統在解決什麼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80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664207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三件核心能力：菜單、揪團、帳本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6974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95351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08152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一場午餐怎麼走完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6974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295351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08152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 與</a:t>
            </a:r>
            <a:r>
              <a:rPr lang="zh-TW" altLang="en-US" sz="18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8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怎麼分工</a:t>
            </a:r>
            <a:endParaRPr sz="18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02920" y="41148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37083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49884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技術棧與系統架構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370832"/>
            <a:ext cx="1005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498848"/>
            <a:ext cx="374903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金額、語言與使用方式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實驗室中午，資訊不該散落在十則訊息裡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3611880" cy="914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1645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01  要點什麼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468880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哪一家店、菜單是哪一版、有沒有人認得照片上的字。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2588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1325880"/>
            <a:ext cx="3611880" cy="914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1645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02  誰點了什麼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68880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論壇裡加點、改點、截止之後，清單要立刻是同一份。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2588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3611880" cy="914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48472" y="164592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03  最後誰該付多少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2468880"/>
            <a:ext cx="31089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價格以庫內菜單為準，結算後知道要把錢拿給誰。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AIPAR ETA 是實驗室內部的伙食系統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106070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 </a:t>
            </a:r>
            <a:r>
              <a:rPr sz="20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建檔、揪團、點餐、結算</a:t>
            </a:r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；</a:t>
            </a:r>
            <a:r>
              <a:rPr lang="zh-TW" altLang="en-US"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20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只負責查閱</a:t>
            </a:r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
</a:t>
            </a:r>
            <a:r>
              <a:rPr sz="20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金額由程式依庫內價格計算，模型不得自行定價</a:t>
            </a:r>
            <a:r>
              <a:rPr sz="20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給誰用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實驗室成員。寫入在 Discord 伺服器，查閱在校內網路。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1089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2918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兩個入口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79476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Bot 負責操作，網站負責看板。兩邊共用同一份 PostgreSQL。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1089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2918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模型的角色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79476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幫忙讀菜單、聽懂自然語言。錢與帳一律由</a:t>
            </a:r>
            <a:r>
              <a:rPr lang="zh-TW" altLang="en-US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不接觸</a:t>
            </a:r>
            <a:r>
              <a:rPr lang="en-US" altLang="zh-TW"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LLM</a:t>
            </a:r>
            <a:r>
              <a:rPr lang="zh-TW" altLang="en-US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避免</a:t>
            </a:r>
            <a:r>
              <a:rPr lang="en-US" altLang="zh-TW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ai</a:t>
            </a:r>
            <a:r>
              <a:rPr lang="zh-TW" altLang="en-US" sz="15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幻覺導致財務失誤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三件核心能力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05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109728" cy="470916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5544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9659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菜單建檔與查詢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697480"/>
            <a:ext cx="301752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/餐廳 新增 建檔。
/菜單 上傳 丟照片，或 /菜單 輸入 貼文字。
辨識結果先當草稿，確認後才上線。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280160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1280160"/>
            <a:ext cx="109728" cy="4709160"/>
          </a:xfrm>
          <a:prstGeom prst="rect">
            <a:avLst/>
          </a:prstGeom>
          <a:solidFill>
            <a:srgbClr val="259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15544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59FC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9659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揪團點餐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697480"/>
            <a:ext cx="301752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/揪團 在論壇開貼文，自動貼菜單與彙總。
按「點餐」選數量與品項，或直接打字。
截止後顯示截止時刻，不再倒數。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109728" cy="470916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200" y="15544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EABF2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965960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記帳與分攤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697480"/>
            <a:ext cx="301752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/結算 把每人小計寫進帳本。
/帳務 誰欠誰 給互抵後的欠款與最少轉帳建議。
同場同人不會重複計費。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菜單建檔與查詢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06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先登記餐廳，再為它建立菜單版本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照片辨識支援直書菜單；也可以人工貼文字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選用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OCR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對帳，預覽時標出需要人工核對的行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沒有人按下「確認寫入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」，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菜單不會上線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spcAft>
                <a:spcPts val="1200"/>
              </a:spcAft>
            </a:pP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之後可用指令或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@ bot </a:t>
            </a:r>
            <a:r>
              <a:rPr sz="15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問「這家有什麼</a:t>
            </a:r>
            <a:r>
              <a:rPr sz="15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170432"/>
            <a:ext cx="589788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web-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3694176" cy="461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0" y="5989320"/>
            <a:ext cx="5623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zh-TW" altLang="en-US"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0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實機截圖</a:t>
            </a:r>
            <a:r>
              <a:rPr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　·　</a:t>
            </a:r>
            <a:r>
              <a:rPr sz="10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雷荷豆腐鍋專賣店菜單</a:t>
            </a:r>
            <a:r>
              <a:rPr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 v1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揪團點餐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07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管理員先指定論壇頻道，開團可 ping 身分組。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Bot 開論壇貼文，貼上菜單與持續更新的彙總。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點餐面板可選 1–10 份，品項可複選。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也可以打「我要一個豆腐鍋跟一份地瓜薯條」。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要改就說「取消地瓜薯條」，或按「清除我的」。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價格永遠取自已上線的菜單，不接受口頭報價。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4713F72-C3B0-A620-F6D1-105E3446E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30" t="61954" r="43381" b="6133"/>
          <a:stretch>
            <a:fillRect/>
          </a:stretch>
        </p:blipFill>
        <p:spPr>
          <a:xfrm>
            <a:off x="6108192" y="2011680"/>
            <a:ext cx="5376662" cy="2629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功能三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記帳與分攤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08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11155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607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結算時寫下每人應付，並記住這場要把錢拿給誰。
餘額由帳本紀錄加總得出，不另存一個會飄的數字。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每人小計寫成帳本紀錄。同場同一個人只計一次。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 我的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看自己的結餘，以及要拿給誰、誰要還你。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 誰欠誰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全體互抵後的欠款，加上最少轉帳建議。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83464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301752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 付款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49039"/>
            <a:ext cx="237744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記下實際付款；指定「付給」誰才抵銷債務。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使用路徑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一場午餐，六個步驟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09  /  15</a:t>
            </a:r>
          </a:p>
        </p:txBody>
      </p:sp>
      <p:pic>
        <p:nvPicPr>
          <p:cNvPr id="10" name="Picture 9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11430000" cy="30291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兩個入口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 負責寫入，網站負責查閱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10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沒有公有網域：網站走校內 IP 與埠。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頁面是伺服器端渲染，樣式內嵌，不依賴外部字型或 CDN。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儀表板、餐廳菜單、揪團紀錄、帳務、系統狀態。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深淺色可切換；系統要求減少動態時，動畫全部關閉。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•  寫入只留 Discord 一條授權路徑，網站維持唯讀。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170432"/>
            <a:ext cx="5943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web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280160"/>
            <a:ext cx="5669280" cy="3543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97880" y="5989320"/>
            <a:ext cx="5669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zh-TW" altLang="en-US"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  <a:r>
              <a:rPr sz="10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實機截圖</a:t>
            </a:r>
            <a:r>
              <a:rPr sz="1000" b="0" dirty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　·　</a:t>
            </a:r>
            <a:r>
              <a:rPr sz="10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儀表板</a:t>
            </a:r>
            <a:endParaRPr sz="1000" b="0" dirty="0">
              <a:solidFill>
                <a:srgbClr val="5D5A55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957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endParaRPr sz="1100" b="1" dirty="0">
              <a:solidFill>
                <a:srgbClr val="B8860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zh-TW" altLang="en-US" sz="2800" b="1" dirty="0">
                <a:latin typeface="Microsoft JhengHei"/>
                <a:ea typeface="Microsoft JhengHei"/>
                <a:cs typeface="Microsoft JhengHei"/>
              </a:rPr>
              <a:t>技術棧</a:t>
            </a:r>
          </a:p>
          <a:p>
            <a:pPr algn="l"/>
            <a:endParaRPr sz="2800" b="1" dirty="0"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11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39903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執行期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52704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Node.js 24，TypeScript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3444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39903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dirty="0" err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資料</a:t>
            </a:r>
            <a:r>
              <a:rPr lang="zh-TW" altLang="en-US" sz="1300" b="1" dirty="0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庫</a:t>
            </a:r>
            <a:endParaRPr sz="1300" b="1" dirty="0">
              <a:solidFill>
                <a:srgbClr val="B8860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21296" y="141274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PostgreSQL 18.6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2316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58775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編排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4385" y="2558017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Docker Compose：</a:t>
            </a:r>
            <a:endParaRPr lang="en-US"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  <a:p>
            <a:r>
              <a:rPr lang="zh-TW" altLang="zh-TW" sz="1400" dirty="0"/>
              <a:t>postgres、ocr、web、bot 四容器</a:t>
            </a:r>
            <a:endParaRPr lang="en-US" altLang="zh-TW" sz="1400" dirty="0"/>
          </a:p>
          <a:p>
            <a:r>
              <a:rPr lang="zh-TW" altLang="zh-TW" sz="1400" dirty="0"/>
              <a:t>（web 與 bot 共用映像）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17920" y="242316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58775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Discord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1296" y="262432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discord.js 14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61188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77647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390448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Node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內建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HTTP、伺服器端渲染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217920" y="361188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377647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1296" y="3680460"/>
            <a:ext cx="4611624" cy="923544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zh-TW" altLang="en-US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多把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免費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LLM </a:t>
            </a:r>
            <a:r>
              <a:rPr lang="en-US"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KEY</a:t>
            </a:r>
            <a:r>
              <a:rPr lang="zh-TW" altLang="en-US"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供應</a:t>
            </a:r>
            <a:r>
              <a:rPr lang="en-US" altLang="zh-TW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(GEMINI, GROQ,</a:t>
            </a:r>
            <a:r>
              <a:rPr lang="zh-TW" altLang="zh-TW" dirty="0"/>
              <a:t> MISTRAL</a:t>
            </a:r>
          </a:p>
          <a:p>
            <a:r>
              <a:rPr lang="en-US" altLang="zh-TW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,</a:t>
            </a:r>
            <a:r>
              <a:rPr lang="zh-TW" altLang="zh-TW" dirty="0"/>
              <a:t> IAI</a:t>
            </a:r>
            <a:r>
              <a:rPr lang="en-US" altLang="zh-TW" sz="140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)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，OpenAI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相容格式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02920" y="4800600"/>
            <a:ext cx="5532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14630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辨識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093208"/>
            <a:ext cx="36118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LLM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視覺模型讀菜單圖；可</a:t>
            </a:r>
            <a:r>
              <a:rPr lang="zh-TW" altLang="en-US"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啟用</a:t>
            </a:r>
            <a:r>
              <a:rPr sz="1400" b="0" dirty="0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 PP-OCRv6 </a:t>
            </a:r>
            <a:r>
              <a:rPr sz="1400" b="0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做版面對帳</a:t>
            </a:r>
            <a:endParaRPr sz="1400" b="0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兩個入口，一份資料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12  /  15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97280"/>
            <a:ext cx="11521440" cy="402232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設計原則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讓帳算得準、讓人看得懂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280160"/>
            <a:ext cx="109728" cy="21488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60020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價格只來自菜單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模型負責指到哪一項、要幾份。應付金額由程式查菜單計算。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109728" cy="2148840"/>
          </a:xfrm>
          <a:prstGeom prst="rect">
            <a:avLst/>
          </a:prstGeom>
          <a:solidFill>
            <a:srgbClr val="259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60020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草稿必須有人確認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94560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圖片辨識與文字解析都先產生草稿，「確認寫入」才上線。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11879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611879"/>
            <a:ext cx="109728" cy="214884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93192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規則優先、模型墊底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26279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對得到的品名就不打模型；沒有金鑰時，按鈕與下拉仍可點餐。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11879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611879"/>
            <a:ext cx="109728" cy="2148840"/>
          </a:xfrm>
          <a:prstGeom prst="rect">
            <a:avLst/>
          </a:prstGeom>
          <a:solidFill>
            <a:srgbClr val="259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3931920"/>
            <a:ext cx="4892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兩種語言一起提供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526279"/>
            <a:ext cx="48920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Discord 語言為中文時用繁體中文，其餘用英式英文。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ABF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怎麼開始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dirty="0" err="1">
                <a:solidFill>
                  <a:srgbClr val="231815"/>
                </a:solidFill>
                <a:latin typeface="Microsoft JhengHei"/>
                <a:ea typeface="Microsoft JhengHei"/>
                <a:cs typeface="Microsoft JhengHei"/>
              </a:rPr>
              <a:t>斜線指令</a:t>
            </a:r>
            <a:endParaRPr sz="2800" b="1" dirty="0">
              <a:solidFill>
                <a:srgbClr val="23181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6565392"/>
            <a:ext cx="11155680" cy="13716"/>
          </a:xfrm>
          <a:prstGeom prst="rect">
            <a:avLst/>
          </a:prstGeom>
          <a:solidFill>
            <a:srgbClr val="E2D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601968"/>
            <a:ext cx="4114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AIPAR 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01968"/>
            <a:ext cx="3657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實驗室伙食系統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14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37160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/餐廳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3736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建檔與查詢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39" y="1207008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56432" y="137160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/菜單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1737360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上傳、輸入、查看版本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77440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254203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/揪團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290779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開論壇貼文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39" y="2377440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56432" y="254203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/結算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2907792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寫入帳本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47872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" y="3712463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/帳務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078224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我的／總覽／誰欠誰／付款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39" y="3547872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6432" y="3712463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/說明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4078224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五段使用說明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718304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" y="488289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/網站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524865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dirty="0" err="1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開啟網站</a:t>
            </a:r>
            <a:endParaRPr sz="1200" b="0" dirty="0">
              <a:solidFill>
                <a:srgbClr val="5D5A5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291839" y="4718304"/>
            <a:ext cx="2651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56432" y="488289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B8860B"/>
                </a:solidFill>
                <a:latin typeface="Microsoft JhengHei"/>
                <a:ea typeface="Microsoft JhengHei"/>
                <a:cs typeface="Microsoft JhengHei"/>
              </a:rPr>
              <a:t>/設定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5248656"/>
            <a:ext cx="23317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D5A55"/>
                </a:solidFill>
                <a:latin typeface="Microsoft JhengHei"/>
                <a:ea typeface="Microsoft JhengHei"/>
                <a:cs typeface="Microsoft JhengHei"/>
              </a:rPr>
              <a:t>論壇頻道與通知身分組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B56B9C72-BB2C-BFC9-855E-5DA05FA64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4020" y="633205"/>
            <a:ext cx="4600468" cy="50449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754</Words>
  <Application>Microsoft Office PowerPoint</Application>
  <PresentationFormat>寬螢幕</PresentationFormat>
  <Paragraphs>184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 N</cp:lastModifiedBy>
  <cp:revision>5</cp:revision>
  <dcterms:created xsi:type="dcterms:W3CDTF">2013-01-27T09:14:16Z</dcterms:created>
  <dcterms:modified xsi:type="dcterms:W3CDTF">2026-09-18T10:30:18Z</dcterms:modified>
  <cp:category/>
</cp:coreProperties>
</file>